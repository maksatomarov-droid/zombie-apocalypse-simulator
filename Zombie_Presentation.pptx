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8748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dirty="0">
                <a:solidFill>
                  <a:srgbClr val="000000"/>
                </a:solidFill>
              </a:rPr>
              <a:t>🧟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2286000" y="6400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333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ZOMBIE APOCALYPSE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2286000" y="1463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SIMULATOR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2286000" y="2377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888888"/>
                </a:solidFill>
              </a:rPr>
              <a:t>SIR-модель эпидемиологии · Реальные данные COVID-19 · Machine Learning · ИИ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286000" y="2926080"/>
            <a:ext cx="8229600" cy="27432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9" name="Text 7"/>
          <p:cNvSpPr/>
          <p:nvPr/>
        </p:nvSpPr>
        <p:spPr>
          <a:xfrm>
            <a:off x="2286000" y="31089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3333"/>
                </a:solidFill>
              </a:rPr>
              <a:t>9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286000" y="3840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8888"/>
                </a:solidFill>
              </a:rPr>
              <a:t>вкладок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31089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3333"/>
                </a:solidFill>
              </a:rPr>
              <a:t>15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846320" y="3840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8888"/>
                </a:solidFill>
              </a:rPr>
              <a:t>стран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406640" y="31089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3333"/>
                </a:solidFill>
              </a:rPr>
              <a:t>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7406640" y="3840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8888"/>
                </a:solidFill>
              </a:rPr>
              <a:t>языка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966960" y="31089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3333"/>
                </a:solidFill>
              </a:rPr>
              <a:t>85%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9966960" y="3840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8888"/>
                </a:solidFill>
              </a:rPr>
              <a:t>точность ML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0" y="621792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88888"/>
                </a:solidFill>
              </a:rPr>
              <a:t>Максат Омаров  |  Data Science &amp; AI  |  Май 2026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0" y="6492240"/>
            <a:ext cx="1219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0000"/>
                </a:solidFill>
              </a:rPr>
              <a:t>http://34.226.215.175:8501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Как работает симулятор?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888888"/>
                </a:solidFill>
              </a:rPr>
              <a:t>Основа — математическая SIR-модель эпидемиологии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383280" cy="2926080"/>
          </a:xfrm>
          <a:prstGeom prst="rect">
            <a:avLst/>
          </a:prstGeom>
          <a:solidFill>
            <a:srgbClr val="111111"/>
          </a:solidFill>
          <a:ln w="25400">
            <a:solidFill>
              <a:srgbClr val="2244A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7160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224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F0F0"/>
                </a:solidFill>
              </a:rPr>
              <a:t>Susceptible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44AA"/>
                </a:solidFill>
              </a:rPr>
              <a:t>Здоровые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</a:rPr>
              <a:t>Люди которых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</a:rPr>
              <a:t>могут заразить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1280160"/>
            <a:ext cx="3383280" cy="2926080"/>
          </a:xfrm>
          <a:prstGeom prst="rect">
            <a:avLst/>
          </a:prstGeom>
          <a:solidFill>
            <a:srgbClr val="111111"/>
          </a:solidFill>
          <a:ln w="25400">
            <a:solidFill>
              <a:srgbClr val="CC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0" y="137160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</a:t>
            </a:r>
            <a:endParaRPr lang="en-US" sz="6400" dirty="0"/>
          </a:p>
        </p:txBody>
      </p:sp>
      <p:sp>
        <p:nvSpPr>
          <p:cNvPr id="12" name="Text 10"/>
          <p:cNvSpPr/>
          <p:nvPr/>
        </p:nvSpPr>
        <p:spPr>
          <a:xfrm>
            <a:off x="4114800" y="2423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F0F0"/>
                </a:solidFill>
              </a:rPr>
              <a:t>Infected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0" y="27432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C0000"/>
                </a:solidFill>
              </a:rPr>
              <a:t>Заражённые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0" y="306324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</a:rPr>
              <a:t>Зомби — активно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</a:rPr>
              <a:t>распространяют вирус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0" y="1280160"/>
            <a:ext cx="3383280" cy="2926080"/>
          </a:xfrm>
          <a:prstGeom prst="rect">
            <a:avLst/>
          </a:prstGeom>
          <a:solidFill>
            <a:srgbClr val="111111"/>
          </a:solidFill>
          <a:ln w="25400">
            <a:solidFill>
              <a:srgbClr val="2288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0" y="137160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2288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</a:t>
            </a:r>
            <a:endParaRPr lang="en-US" sz="6400" dirty="0"/>
          </a:p>
        </p:txBody>
      </p:sp>
      <p:sp>
        <p:nvSpPr>
          <p:cNvPr id="17" name="Text 15"/>
          <p:cNvSpPr/>
          <p:nvPr/>
        </p:nvSpPr>
        <p:spPr>
          <a:xfrm>
            <a:off x="7772400" y="2423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F0F0"/>
                </a:solidFill>
              </a:rPr>
              <a:t>Recovered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0" y="27432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8844"/>
                </a:solidFill>
              </a:rPr>
              <a:t>Выбывшие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0" y="306324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</a:rPr>
              <a:t>Иммунные или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</a:rPr>
              <a:t>уничтоженные зомби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49040" y="219456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C0000"/>
                </a:solidFill>
              </a:rPr>
              <a:t>-&gt;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7406640" y="219456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8844"/>
                </a:solidFill>
              </a:rPr>
              <a:t>-&gt;</a:t>
            </a:r>
            <a:endParaRPr lang="en-US" sz="2800" dirty="0"/>
          </a:p>
        </p:txBody>
      </p:sp>
      <p:sp>
        <p:nvSpPr>
          <p:cNvPr id="22" name="Shape 20"/>
          <p:cNvSpPr/>
          <p:nvPr/>
        </p:nvSpPr>
        <p:spPr>
          <a:xfrm>
            <a:off x="457200" y="4389120"/>
            <a:ext cx="10515600" cy="1097280"/>
          </a:xfrm>
          <a:prstGeom prst="rect">
            <a:avLst/>
          </a:prstGeom>
          <a:solidFill>
            <a:srgbClr val="111111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480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3333"/>
                </a:solidFill>
              </a:rPr>
              <a:t>R0 = beta / gamma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657600" y="4480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0F0"/>
                </a:solidFill>
              </a:rPr>
              <a:t>R0 &gt; 1 = эпидемия растёт   |   R0 &lt; 1 = эпидемия затухает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48920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</a:rPr>
              <a:t>Данные: Kaggle — Corona Virus Report. beta и gamma рассчитаны самостоятельно по формулам.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 интерактивных вкладок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3566160" cy="155448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097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3333"/>
                </a:solidFill>
              </a:rPr>
              <a:t>🧟 1. Симулятор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5087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SIR-граф S/I/R по дням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Выбор страны из датасета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0" y="1005840"/>
            <a:ext cx="3566160" cy="155448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51960" y="1097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3333"/>
                </a:solidFill>
              </a:rPr>
              <a:t>🎲 2. События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51960" y="15087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Случайные события: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вакцина, мутация, армия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863840" y="1005840"/>
            <a:ext cx="3566160" cy="155448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01000" y="1097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3333"/>
                </a:solidFill>
              </a:rPr>
              <a:t>📊 3. Сценарии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01000" y="15087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Без мер / Карантин / Вакцина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Сравнение стран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743200"/>
            <a:ext cx="3566160" cy="155448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346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3333"/>
                </a:solidFill>
              </a:rPr>
              <a:t>👤 4. Персонаж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32461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Скоринг выживаемости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PDF сертификат + Radar Chart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0" y="2743200"/>
            <a:ext cx="3566160" cy="155448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51960" y="28346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3333"/>
                </a:solidFill>
              </a:rPr>
              <a:t>📈 5. Данные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51960" y="32461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EDA: 15 стран COVID-19 (Kaggle)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Графики R0, вакцинации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863840" y="2743200"/>
            <a:ext cx="3566160" cy="155448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1000" y="28346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3333"/>
                </a:solidFill>
              </a:rPr>
              <a:t>🧟 6. Если ты зомби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01000" y="32461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Adversarial Attack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Симуляция типов зомби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480560"/>
            <a:ext cx="3566160" cy="155448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45720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3333"/>
                </a:solidFill>
              </a:rPr>
              <a:t>🧠 7. ИИ-аналитик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49834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LLM через OpenRouter API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Отвечает на вопросы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0" y="4480560"/>
            <a:ext cx="3566160" cy="155448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51960" y="45720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3333"/>
                </a:solidFill>
              </a:rPr>
              <a:t>🤖 8. ML-модель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251960" y="49834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Random Forest 85%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Feature Importance + XAI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863840" y="4480560"/>
            <a:ext cx="3566160" cy="155448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01000" y="45720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3333"/>
                </a:solidFill>
              </a:rPr>
              <a:t>📖 9. О проекте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01000" y="49834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Глоссарий 18 терминов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Стек технологий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Machine Learning + ИИ интеграция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5120640" cy="5029200"/>
          </a:xfrm>
          <a:prstGeom prst="rect">
            <a:avLst/>
          </a:prstGeom>
          <a:solidFill>
            <a:srgbClr val="0A0A1A"/>
          </a:solidFill>
          <a:ln w="25400">
            <a:solidFill>
              <a:srgbClr val="CC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058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3333"/>
                </a:solidFill>
              </a:rPr>
              <a:t>🔬 Random Forest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&gt; 100 деревьев решений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&gt; 1000 синтетических персонажей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&gt; Точность модели: ~85%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3832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</a:rPr>
              <a:t>&gt; Feature Importance — важность факторов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9776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</a:rPr>
              <a:t>&gt; XAI — объяснимый ИИ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5720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</a:rPr>
              <a:t>&gt; Предсказание выживаемости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852160" y="914400"/>
            <a:ext cx="5120640" cy="5029200"/>
          </a:xfrm>
          <a:prstGeom prst="rect">
            <a:avLst/>
          </a:prstGeom>
          <a:solidFill>
            <a:srgbClr val="0A1A0A"/>
          </a:solidFill>
          <a:ln w="25400">
            <a:solidFill>
              <a:srgbClr val="44AA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35040" y="10058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4FF88"/>
                </a:solidFill>
              </a:rPr>
              <a:t>🧠 ИИ-аналитик (LLM)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035040" y="1600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&gt; OpenRouter API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35040" y="21945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&gt; Модель: google/gemma-4-26b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035040" y="27889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&gt; Работает на AWS EC2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035040" y="33832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</a:rPr>
              <a:t>&gt; Отвечает на 3 языках (KZ/RU/EN)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35040" y="39776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</a:rPr>
              <a:t>&gt; System prompt: эпидемиолог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35040" y="45720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</a:rPr>
              <a:t>&gt; Упоминает SIR, R0, beta, gamma</a:t>
            </a:r>
            <a:endParaRPr lang="en-US" sz="13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8917C00D-89BE-45A4-B596-90477C1C43FD}"/>
              </a:ext>
            </a:extLst>
          </p:cNvPr>
          <p:cNvSpPr/>
          <p:nvPr/>
        </p:nvSpPr>
        <p:spPr>
          <a:xfrm>
            <a:off x="36576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88888"/>
                </a:solidFill>
              </a:rPr>
              <a:t>Персонаж (скоринг) vs МЛ-модель: Rule-based scoring — это НЕ ML. Random Forest сам нашёл закономерности из данных.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>
            <a:extLst>
              <a:ext uri="{FF2B5EF4-FFF2-40B4-BE49-F238E27FC236}">
                <a16:creationId xmlns:a16="http://schemas.microsoft.com/office/drawing/2014/main" id="{D90B2439-75AA-4FEE-BBAE-3EA08A03E1F2}"/>
              </a:ext>
            </a:extLst>
          </p:cNvPr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21" name="Shape 1">
            <a:extLst>
              <a:ext uri="{FF2B5EF4-FFF2-40B4-BE49-F238E27FC236}">
                <a16:creationId xmlns:a16="http://schemas.microsoft.com/office/drawing/2014/main" id="{9E25E9EF-0664-4C97-873A-83A3FC55B709}"/>
              </a:ext>
            </a:extLst>
          </p:cNvPr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CF10CAD9-9E67-4D33-882A-9F986A2F0CF8}"/>
              </a:ext>
            </a:extLst>
          </p:cNvPr>
          <p:cNvSpPr/>
          <p:nvPr/>
        </p:nvSpPr>
        <p:spPr>
          <a:xfrm>
            <a:off x="457200" y="1828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Что реализовано</a:t>
            </a:r>
            <a:endParaRPr lang="en-US" sz="3200" dirty="0"/>
          </a:p>
        </p:txBody>
      </p:sp>
      <p:sp>
        <p:nvSpPr>
          <p:cNvPr id="23" name="Shape 3">
            <a:extLst>
              <a:ext uri="{FF2B5EF4-FFF2-40B4-BE49-F238E27FC236}">
                <a16:creationId xmlns:a16="http://schemas.microsoft.com/office/drawing/2014/main" id="{C53A474A-87E4-4BC7-8183-910B390BFEDF}"/>
              </a:ext>
            </a:extLst>
          </p:cNvPr>
          <p:cNvSpPr/>
          <p:nvPr/>
        </p:nvSpPr>
        <p:spPr>
          <a:xfrm>
            <a:off x="365760" y="960120"/>
            <a:ext cx="10515600" cy="594360"/>
          </a:xfrm>
          <a:prstGeom prst="rect">
            <a:avLst/>
          </a:prstGeom>
          <a:solidFill>
            <a:srgbClr val="0F0F0F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C41EC16E-9BEE-48CE-A66F-8B220F2EDEAF}"/>
              </a:ext>
            </a:extLst>
          </p:cNvPr>
          <p:cNvSpPr/>
          <p:nvPr/>
        </p:nvSpPr>
        <p:spPr>
          <a:xfrm>
            <a:off x="548640" y="100584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✅  SIR-модель на реальных данных COVID-19 (15 стран, WHO/CDC)</a:t>
            </a:r>
            <a:endParaRPr lang="en-US" sz="1300" dirty="0"/>
          </a:p>
        </p:txBody>
      </p:sp>
      <p:sp>
        <p:nvSpPr>
          <p:cNvPr id="25" name="Shape 5">
            <a:extLst>
              <a:ext uri="{FF2B5EF4-FFF2-40B4-BE49-F238E27FC236}">
                <a16:creationId xmlns:a16="http://schemas.microsoft.com/office/drawing/2014/main" id="{3B0CE8EA-CD38-40FA-B49D-ECCEA9A21754}"/>
              </a:ext>
            </a:extLst>
          </p:cNvPr>
          <p:cNvSpPr/>
          <p:nvPr/>
        </p:nvSpPr>
        <p:spPr>
          <a:xfrm>
            <a:off x="365760" y="1664208"/>
            <a:ext cx="10515600" cy="594360"/>
          </a:xfrm>
          <a:prstGeom prst="rect">
            <a:avLst/>
          </a:prstGeom>
          <a:solidFill>
            <a:srgbClr val="0F0F0F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EE664EEE-0A10-4995-AAFC-2AF75DF8364B}"/>
              </a:ext>
            </a:extLst>
          </p:cNvPr>
          <p:cNvSpPr/>
          <p:nvPr/>
        </p:nvSpPr>
        <p:spPr>
          <a:xfrm>
            <a:off x="548640" y="1709928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✅  Machine Learning: Random Forest, 85% точность, Feature Importance, XAI</a:t>
            </a:r>
            <a:endParaRPr lang="en-US" sz="1300" dirty="0"/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027086F5-6B5B-47CD-A161-BF92B67519B6}"/>
              </a:ext>
            </a:extLst>
          </p:cNvPr>
          <p:cNvSpPr/>
          <p:nvPr/>
        </p:nvSpPr>
        <p:spPr>
          <a:xfrm>
            <a:off x="365760" y="2368296"/>
            <a:ext cx="10515600" cy="594360"/>
          </a:xfrm>
          <a:prstGeom prst="rect">
            <a:avLst/>
          </a:prstGeom>
          <a:solidFill>
            <a:srgbClr val="0F0F0F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7F5ADA74-2F56-4D22-BA8A-B75746722F49}"/>
              </a:ext>
            </a:extLst>
          </p:cNvPr>
          <p:cNvSpPr/>
          <p:nvPr/>
        </p:nvSpPr>
        <p:spPr>
          <a:xfrm>
            <a:off x="548640" y="2414016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✅  ИИ интеграция: LLM через OpenRouter API на 3 языках</a:t>
            </a:r>
            <a:endParaRPr lang="en-US" sz="1300" dirty="0"/>
          </a:p>
        </p:txBody>
      </p:sp>
      <p:sp>
        <p:nvSpPr>
          <p:cNvPr id="29" name="Shape 9">
            <a:extLst>
              <a:ext uri="{FF2B5EF4-FFF2-40B4-BE49-F238E27FC236}">
                <a16:creationId xmlns:a16="http://schemas.microsoft.com/office/drawing/2014/main" id="{03E7E41C-3455-44DE-AF17-53F1024B177F}"/>
              </a:ext>
            </a:extLst>
          </p:cNvPr>
          <p:cNvSpPr/>
          <p:nvPr/>
        </p:nvSpPr>
        <p:spPr>
          <a:xfrm>
            <a:off x="365760" y="3072384"/>
            <a:ext cx="10515600" cy="594360"/>
          </a:xfrm>
          <a:prstGeom prst="rect">
            <a:avLst/>
          </a:prstGeom>
          <a:solidFill>
            <a:srgbClr val="0F0F0F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58DED288-50FA-4205-9DE3-A7ACF032DEFB}"/>
              </a:ext>
            </a:extLst>
          </p:cNvPr>
          <p:cNvSpPr/>
          <p:nvPr/>
        </p:nvSpPr>
        <p:spPr>
          <a:xfrm>
            <a:off x="548640" y="3118104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✅  Adversarial Attack симулятор — анализ с позиции атакующего</a:t>
            </a:r>
            <a:endParaRPr lang="en-US" sz="1300" dirty="0"/>
          </a:p>
        </p:txBody>
      </p:sp>
      <p:sp>
        <p:nvSpPr>
          <p:cNvPr id="31" name="Shape 11">
            <a:extLst>
              <a:ext uri="{FF2B5EF4-FFF2-40B4-BE49-F238E27FC236}">
                <a16:creationId xmlns:a16="http://schemas.microsoft.com/office/drawing/2014/main" id="{8BB43F01-A750-49FF-858F-9F7641B004FD}"/>
              </a:ext>
            </a:extLst>
          </p:cNvPr>
          <p:cNvSpPr/>
          <p:nvPr/>
        </p:nvSpPr>
        <p:spPr>
          <a:xfrm>
            <a:off x="365760" y="3776472"/>
            <a:ext cx="10515600" cy="594360"/>
          </a:xfrm>
          <a:prstGeom prst="rect">
            <a:avLst/>
          </a:prstGeom>
          <a:solidFill>
            <a:srgbClr val="0F0F0F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4BF16345-AF3F-4C4E-95FC-8D2ADA789373}"/>
              </a:ext>
            </a:extLst>
          </p:cNvPr>
          <p:cNvSpPr/>
          <p:nvPr/>
        </p:nvSpPr>
        <p:spPr>
          <a:xfrm>
            <a:off x="548640" y="3822192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✅  Персонаж: Radar Chart, PDF сертификат, 74 клички с редкостью</a:t>
            </a:r>
            <a:endParaRPr lang="en-US" sz="1300" dirty="0"/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EDA8735E-75E0-4179-A04E-9A4AC3FF33F9}"/>
              </a:ext>
            </a:extLst>
          </p:cNvPr>
          <p:cNvSpPr/>
          <p:nvPr/>
        </p:nvSpPr>
        <p:spPr>
          <a:xfrm>
            <a:off x="365760" y="4480560"/>
            <a:ext cx="10515600" cy="594360"/>
          </a:xfrm>
          <a:prstGeom prst="rect">
            <a:avLst/>
          </a:prstGeom>
          <a:solidFill>
            <a:srgbClr val="0F0F0F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3717C6B3-E28F-4868-A729-3D9DE45757BA}"/>
              </a:ext>
            </a:extLst>
          </p:cNvPr>
          <p:cNvSpPr/>
          <p:nvPr/>
        </p:nvSpPr>
        <p:spPr>
          <a:xfrm>
            <a:off x="548640" y="452628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✅  Деплой: AWS EC2, постоянный сайт 24/7</a:t>
            </a:r>
            <a:endParaRPr lang="en-US" sz="1300" dirty="0"/>
          </a:p>
        </p:txBody>
      </p:sp>
      <p:sp>
        <p:nvSpPr>
          <p:cNvPr id="35" name="Shape 15">
            <a:extLst>
              <a:ext uri="{FF2B5EF4-FFF2-40B4-BE49-F238E27FC236}">
                <a16:creationId xmlns:a16="http://schemas.microsoft.com/office/drawing/2014/main" id="{E1F52E0D-0552-42CF-84A9-265559B522FD}"/>
              </a:ext>
            </a:extLst>
          </p:cNvPr>
          <p:cNvSpPr/>
          <p:nvPr/>
        </p:nvSpPr>
        <p:spPr>
          <a:xfrm>
            <a:off x="365760" y="5184648"/>
            <a:ext cx="10515600" cy="594360"/>
          </a:xfrm>
          <a:prstGeom prst="rect">
            <a:avLst/>
          </a:prstGeom>
          <a:solidFill>
            <a:srgbClr val="0F0F0F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7D39CB9E-2282-47FE-A495-E9D41F8CE2C9}"/>
              </a:ext>
            </a:extLst>
          </p:cNvPr>
          <p:cNvSpPr/>
          <p:nvPr/>
        </p:nvSpPr>
        <p:spPr>
          <a:xfrm>
            <a:off x="548640" y="5230368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✅  3 языка: Казахский / Русский / English</a:t>
            </a:r>
            <a:endParaRPr lang="en-US" sz="1300" dirty="0"/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1D7D2754-B374-4E78-B327-F216B9A21728}"/>
              </a:ext>
            </a:extLst>
          </p:cNvPr>
          <p:cNvSpPr/>
          <p:nvPr/>
        </p:nvSpPr>
        <p:spPr>
          <a:xfrm>
            <a:off x="0" y="6492240"/>
            <a:ext cx="1219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C0000"/>
                </a:solidFill>
              </a:rPr>
              <a:t>🧟  Zombie Apocalypse Simulator  |  Максат Омаров  |  http://34.226.215.175:8501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421</Words>
  <Application>Microsoft Office PowerPoint</Application>
  <PresentationFormat>Широкоэкранный</PresentationFormat>
  <Paragraphs>94</Paragraphs>
  <Slides>5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9" baseType="lpstr">
      <vt:lpstr>Arial</vt:lpstr>
      <vt:lpstr>Arial Black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Maksat</cp:lastModifiedBy>
  <cp:revision>3</cp:revision>
  <dcterms:created xsi:type="dcterms:W3CDTF">2026-05-01T19:01:43Z</dcterms:created>
  <dcterms:modified xsi:type="dcterms:W3CDTF">2026-05-01T19:33:34Z</dcterms:modified>
</cp:coreProperties>
</file>