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74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🧟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ZOMBIE APOCALYPSE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8888"/>
                </a:solidFill>
              </a:rPr>
              <a:t>SIR-модель эпидемиологии · Реальные данные COVID-19 · Machine Learning · ИИ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926080"/>
            <a:ext cx="8229600" cy="274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вкладок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стран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40664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языка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85%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96696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точность 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</a:rPr>
              <a:t>Максат Омаров  |  Data Science &amp; AI  |  Май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0000"/>
                </a:solidFill>
              </a:rPr>
              <a:t>http://34.226.215.175:8501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работает симулятор?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8888"/>
                </a:solidFill>
              </a:rPr>
              <a:t>Основа — математическая SIR-модель эпидемиологии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57334"/>
            <a:ext cx="3383280" cy="2303034"/>
          </a:xfrm>
          <a:prstGeom prst="rect">
            <a:avLst/>
          </a:prstGeom>
          <a:solidFill>
            <a:srgbClr val="111111"/>
          </a:solidFill>
          <a:ln w="25400">
            <a:solidFill>
              <a:srgbClr val="224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205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4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1721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Susceptible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21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44AA"/>
                </a:solidFill>
              </a:rPr>
              <a:t>Здоровые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122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Люди которых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могут заразить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157334"/>
            <a:ext cx="3383280" cy="2303034"/>
          </a:xfrm>
          <a:prstGeom prst="rect">
            <a:avLst/>
          </a:prstGeom>
          <a:solidFill>
            <a:srgbClr val="111111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1205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114800" y="21721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Infected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4921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Заражённые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8122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Зомби — активно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распространяют вирус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1157334"/>
            <a:ext cx="3383280" cy="2303034"/>
          </a:xfrm>
          <a:prstGeom prst="rect">
            <a:avLst/>
          </a:prstGeom>
          <a:solidFill>
            <a:srgbClr val="111111"/>
          </a:solidFill>
          <a:ln w="25400">
            <a:solidFill>
              <a:srgbClr val="2288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205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88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7772400" y="21721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Recovered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24921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8844"/>
                </a:solidFill>
              </a:rPr>
              <a:t>Выбывшие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8122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Иммунные или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уничтоженные зомби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19435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</a:rPr>
              <a:t>-&gt;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06640" y="19435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8844"/>
                </a:solidFill>
              </a:rPr>
              <a:t>-&gt;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552707"/>
            <a:ext cx="10698480" cy="2991528"/>
          </a:xfrm>
          <a:prstGeom prst="rect">
            <a:avLst/>
          </a:prstGeom>
          <a:solidFill>
            <a:srgbClr val="111111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Text 21"/>
          <p:cNvSpPr/>
          <p:nvPr/>
        </p:nvSpPr>
        <p:spPr>
          <a:xfrm>
            <a:off x="640080" y="370959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333"/>
                </a:solidFill>
              </a:rPr>
              <a:t>R0 = beta / gamma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827468" y="3659838"/>
            <a:ext cx="8163993" cy="633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ru-RU" sz="1100" b="1" i="0" dirty="0">
                <a:solidFill>
                  <a:srgbClr val="66AAFF"/>
                </a:solidFill>
                <a:effectLst/>
                <a:latin typeface="Oswald" panose="00000500000000000000" pitchFamily="2" charset="-52"/>
              </a:rPr>
              <a:t> R₀ (R-ноль) </a:t>
            </a:r>
            <a:r>
              <a:rPr lang="ru-RU" sz="1100" b="0" i="0" dirty="0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= Basic </a:t>
            </a:r>
            <a:r>
              <a:rPr lang="ru-RU" sz="1100" b="0" i="0" dirty="0" err="1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Reproduction</a:t>
            </a:r>
            <a:r>
              <a:rPr lang="ru-RU" sz="1100" b="0" i="0" dirty="0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 Number — базовое репродуктивное число</a:t>
            </a:r>
            <a:endParaRPr lang="ru-RU" sz="1100" b="1" i="0" dirty="0">
              <a:solidFill>
                <a:srgbClr val="66AAFF"/>
              </a:solidFill>
              <a:effectLst/>
              <a:latin typeface="Oswald" panose="00000500000000000000" pitchFamily="2" charset="-52"/>
            </a:endParaRPr>
          </a:p>
          <a:p>
            <a:pPr algn="l"/>
            <a:r>
              <a:rPr lang="ru-RU" sz="1100" b="0" i="0" dirty="0">
                <a:solidFill>
                  <a:srgbClr val="999999"/>
                </a:solidFill>
                <a:effectLst/>
                <a:latin typeface="Source Sans"/>
              </a:rPr>
              <a:t>Показывает, сколько людей в среднем заразит один больной. R₀ = 2 → каждый зомби кусает 2 человека.</a:t>
            </a:r>
            <a:endParaRPr lang="en-US" sz="1100" b="0" i="0" dirty="0">
              <a:solidFill>
                <a:srgbClr val="999999"/>
              </a:solidFill>
              <a:effectLst/>
              <a:latin typeface="Source Sans"/>
            </a:endParaRPr>
          </a:p>
          <a:p>
            <a:pPr algn="l"/>
            <a:r>
              <a:rPr lang="ru-RU" sz="1100" b="0" i="0" dirty="0">
                <a:solidFill>
                  <a:srgbClr val="999999"/>
                </a:solidFill>
                <a:effectLst/>
                <a:latin typeface="Source Sans"/>
              </a:rPr>
              <a:t>Если R₀ &gt; 1 — эпидемия растёт. Если R₀ &lt; 1 — затухает сама по себе. Для COVID-19 было 2–3, для кори — 12–18.</a:t>
            </a: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A6161826-D99A-48F5-85D2-770137BD1554}"/>
              </a:ext>
            </a:extLst>
          </p:cNvPr>
          <p:cNvSpPr/>
          <p:nvPr/>
        </p:nvSpPr>
        <p:spPr>
          <a:xfrm>
            <a:off x="640080" y="4647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β (</a:t>
            </a:r>
            <a:r>
              <a:rPr lang="ru-RU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бета)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=</a:t>
            </a:r>
            <a:r>
              <a:rPr lang="ru-RU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 </a:t>
            </a:r>
            <a:r>
              <a:rPr lang="en-US" sz="2000" b="1" dirty="0">
                <a:solidFill>
                  <a:srgbClr val="FF0000"/>
                </a:solidFill>
              </a:rPr>
              <a:t> R0*Y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16AF71BD-93EC-46A3-893C-02F7377CE0F7}"/>
              </a:ext>
            </a:extLst>
          </p:cNvPr>
          <p:cNvSpPr/>
          <p:nvPr/>
        </p:nvSpPr>
        <p:spPr>
          <a:xfrm>
            <a:off x="792480" y="61291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888888"/>
                </a:solidFill>
              </a:rPr>
              <a:t>Данные</a:t>
            </a:r>
            <a:r>
              <a:rPr lang="en-US" sz="1100" i="1" dirty="0">
                <a:solidFill>
                  <a:srgbClr val="888888"/>
                </a:solidFill>
              </a:rPr>
              <a:t>: Kaggle — Corona Virus Report. beta и gamma </a:t>
            </a:r>
            <a:r>
              <a:rPr lang="en-US" sz="1100" i="1" dirty="0" err="1">
                <a:solidFill>
                  <a:srgbClr val="888888"/>
                </a:solidFill>
              </a:rPr>
              <a:t>рассчитаны</a:t>
            </a:r>
            <a:r>
              <a:rPr lang="en-US" sz="1100" i="1" dirty="0">
                <a:solidFill>
                  <a:srgbClr val="888888"/>
                </a:solidFill>
              </a:rPr>
              <a:t> </a:t>
            </a:r>
            <a:r>
              <a:rPr lang="en-US" sz="1100" i="1" dirty="0" err="1">
                <a:solidFill>
                  <a:srgbClr val="888888"/>
                </a:solidFill>
              </a:rPr>
              <a:t>самостоятельно</a:t>
            </a:r>
            <a:r>
              <a:rPr lang="en-US" sz="1100" i="1" dirty="0">
                <a:solidFill>
                  <a:srgbClr val="888888"/>
                </a:solidFill>
              </a:rPr>
              <a:t> </a:t>
            </a:r>
            <a:r>
              <a:rPr lang="en-US" sz="1100" i="1" dirty="0" err="1">
                <a:solidFill>
                  <a:srgbClr val="888888"/>
                </a:solidFill>
              </a:rPr>
              <a:t>по</a:t>
            </a:r>
            <a:r>
              <a:rPr lang="en-US" sz="1100" i="1" dirty="0">
                <a:solidFill>
                  <a:srgbClr val="888888"/>
                </a:solidFill>
              </a:rPr>
              <a:t> </a:t>
            </a:r>
            <a:r>
              <a:rPr lang="en-US" sz="1100" i="1" dirty="0" err="1">
                <a:solidFill>
                  <a:srgbClr val="888888"/>
                </a:solidFill>
              </a:rPr>
              <a:t>формулам</a:t>
            </a:r>
            <a:r>
              <a:rPr lang="en-US" sz="1100" i="1" dirty="0">
                <a:solidFill>
                  <a:srgbClr val="888888"/>
                </a:solidFill>
              </a:rPr>
              <a:t>.</a:t>
            </a:r>
            <a:endParaRPr lang="en-US" sz="11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DDD64924-4FC2-4CD9-BAC1-0E6F5983C391}"/>
              </a:ext>
            </a:extLst>
          </p:cNvPr>
          <p:cNvSpPr/>
          <p:nvPr/>
        </p:nvSpPr>
        <p:spPr>
          <a:xfrm>
            <a:off x="640079" y="5461302"/>
            <a:ext cx="39677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Oswald" panose="00000500000000000000" pitchFamily="2" charset="-52"/>
              </a:rPr>
              <a:t>Y </a:t>
            </a:r>
            <a:r>
              <a:rPr lang="el-GR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(</a:t>
            </a:r>
            <a:r>
              <a:rPr lang="ru-RU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гамма)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=</a:t>
            </a:r>
            <a:r>
              <a:rPr lang="ru-RU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 1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/</a:t>
            </a:r>
            <a:r>
              <a:rPr lang="ru-RU" sz="2000" b="1" i="0" dirty="0" err="1">
                <a:solidFill>
                  <a:srgbClr val="FF0000"/>
                </a:solidFill>
                <a:effectLst/>
                <a:latin typeface="Oswald" panose="00000500000000000000" pitchFamily="2" charset="-52"/>
              </a:rPr>
              <a:t>ср.прод</a:t>
            </a:r>
            <a:r>
              <a:rPr lang="ru-RU" sz="2000" b="1" dirty="0" err="1">
                <a:solidFill>
                  <a:srgbClr val="FF0000"/>
                </a:solidFill>
                <a:latin typeface="Oswald" panose="00000500000000000000" pitchFamily="2" charset="-52"/>
              </a:rPr>
              <a:t>-ть</a:t>
            </a:r>
            <a:r>
              <a:rPr lang="ru-RU" sz="2000" b="1" dirty="0">
                <a:solidFill>
                  <a:srgbClr val="FF0000"/>
                </a:solidFill>
                <a:latin typeface="Oswald" panose="00000500000000000000" pitchFamily="2" charset="-52"/>
              </a:rPr>
              <a:t> болезни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54878D8-4A79-4C04-B1F1-8CBC7D9F36C4}"/>
              </a:ext>
            </a:extLst>
          </p:cNvPr>
          <p:cNvSpPr/>
          <p:nvPr/>
        </p:nvSpPr>
        <p:spPr>
          <a:xfrm>
            <a:off x="2827468" y="4487282"/>
            <a:ext cx="8163993" cy="633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ru-RU" sz="1100" b="1" i="0" dirty="0">
                <a:solidFill>
                  <a:srgbClr val="66AAFF"/>
                </a:solidFill>
                <a:effectLst/>
                <a:latin typeface="Oswald" panose="00000500000000000000" pitchFamily="2" charset="-52"/>
              </a:rPr>
              <a:t>β (бета) </a:t>
            </a:r>
            <a:r>
              <a:rPr lang="ru-RU" sz="1100" b="0" i="0" dirty="0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= </a:t>
            </a:r>
            <a:r>
              <a:rPr lang="ru-RU" sz="1100" b="0" i="0" dirty="0" err="1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Transmission</a:t>
            </a:r>
            <a:r>
              <a:rPr lang="ru-RU" sz="1100" b="0" i="0" dirty="0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 Rate — скорость передачи вируса</a:t>
            </a:r>
            <a:endParaRPr lang="ru-RU" sz="1100" b="1" i="0" dirty="0">
              <a:solidFill>
                <a:srgbClr val="66AAFF"/>
              </a:solidFill>
              <a:effectLst/>
              <a:latin typeface="Oswald" panose="00000500000000000000" pitchFamily="2" charset="-52"/>
            </a:endParaRPr>
          </a:p>
          <a:p>
            <a:pPr algn="l"/>
            <a:r>
              <a:rPr lang="ru-RU" sz="1100" b="0" i="0" dirty="0">
                <a:solidFill>
                  <a:srgbClr val="999999"/>
                </a:solidFill>
                <a:effectLst/>
                <a:latin typeface="Source Sans"/>
              </a:rPr>
              <a:t>Греческая буква β. Показывает насколько быстро вирус передаётся от заражённого к здоровому. </a:t>
            </a:r>
          </a:p>
          <a:p>
            <a:pPr algn="l"/>
            <a:r>
              <a:rPr lang="ru-RU" sz="1100" b="0" i="0" dirty="0">
                <a:solidFill>
                  <a:srgbClr val="999999"/>
                </a:solidFill>
                <a:effectLst/>
                <a:latin typeface="Source Sans"/>
              </a:rPr>
              <a:t>Высокий β = вирус очень заразный (как корь). Низкий β = передаётся медленно.</a:t>
            </a: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67C5FB1E-4D39-4F1C-8833-F931C9A83104}"/>
              </a:ext>
            </a:extLst>
          </p:cNvPr>
          <p:cNvSpPr/>
          <p:nvPr/>
        </p:nvSpPr>
        <p:spPr>
          <a:xfrm>
            <a:off x="4434840" y="5301728"/>
            <a:ext cx="6416040" cy="633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ru-RU" sz="1100" b="1" i="0" dirty="0">
                <a:solidFill>
                  <a:srgbClr val="66AAFF"/>
                </a:solidFill>
                <a:effectLst/>
                <a:latin typeface="Oswald" panose="00000500000000000000" pitchFamily="2" charset="-52"/>
              </a:rPr>
              <a:t> γ (гамма) </a:t>
            </a:r>
            <a:r>
              <a:rPr lang="ru-RU" sz="1100" b="0" i="0" dirty="0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= Recovery/</a:t>
            </a:r>
            <a:r>
              <a:rPr lang="ru-RU" sz="1100" b="0" i="0" dirty="0" err="1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Removal</a:t>
            </a:r>
            <a:r>
              <a:rPr lang="ru-RU" sz="1100" b="0" i="0" dirty="0">
                <a:solidFill>
                  <a:srgbClr val="555555"/>
                </a:solidFill>
                <a:effectLst/>
                <a:latin typeface="Oswald" panose="00000500000000000000" pitchFamily="2" charset="-52"/>
              </a:rPr>
              <a:t> Rate — скорость выздоровления или устранения</a:t>
            </a:r>
            <a:endParaRPr lang="ru-RU" sz="1100" b="1" i="0" dirty="0">
              <a:solidFill>
                <a:srgbClr val="66AAFF"/>
              </a:solidFill>
              <a:effectLst/>
              <a:latin typeface="Oswald" panose="00000500000000000000" pitchFamily="2" charset="-52"/>
            </a:endParaRPr>
          </a:p>
          <a:p>
            <a:pPr algn="l"/>
            <a:r>
              <a:rPr lang="ru-RU" sz="1100" b="0" i="0" dirty="0">
                <a:solidFill>
                  <a:srgbClr val="999999"/>
                </a:solidFill>
                <a:effectLst/>
                <a:latin typeface="Source Sans"/>
              </a:rPr>
              <a:t>Греческая буква γ. Показывает как быстро заражённые перестают быть источником угрозы. В нашей модели: скорость уничтожения зомби или их естественного разложения.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интерактивных вкладок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🧟 1. Симулятор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SIR-граф S/I/R по дням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Выбор страны из датасета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00584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🎲 2. События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Случайные события: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вакцина, мутация, армия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00584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📊 3. Сценарии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Без мер / Карантин / Вакцина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Сравнение стран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👤 4. Персонаж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Скоринг выживаемости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PDF сертификат + Radar Chart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📈 5. Данные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EDA: 15 стран COVID-19 (Kaggle)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Графики R0, вакцинации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274320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🧟 6. Если ты зомби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Adversarial Attack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Симуляция типов зомби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🧠 7. ИИ-аналитик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LLM через OpenRouter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Отвечает на вопросы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448056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🤖 8. ML-модель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5196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Random Forest 85%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Feature Importance + XAI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448056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📖 9. О проекте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Глоссарий 18 терминов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Стек технологий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+ ИИ интеграция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5029200"/>
          </a:xfrm>
          <a:prstGeom prst="rect">
            <a:avLst/>
          </a:prstGeom>
          <a:solidFill>
            <a:srgbClr val="0A0A1A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333"/>
                </a:solidFill>
              </a:rPr>
              <a:t>🔬 Random Forest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&gt; 100 деревьев решений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&gt; 1000 синтетических персонажей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&gt; Точность модели: ~85%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&gt; Feature Importance — важность факторов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&gt; XAI — объяснимый 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&gt; Предсказание выживаемости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914400"/>
            <a:ext cx="5120640" cy="5029200"/>
          </a:xfrm>
          <a:prstGeom prst="rect">
            <a:avLst/>
          </a:prstGeom>
          <a:solidFill>
            <a:srgbClr val="0A1A0A"/>
          </a:solidFill>
          <a:ln w="25400">
            <a:solidFill>
              <a:srgbClr val="44A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05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FF88"/>
                </a:solidFill>
              </a:rPr>
              <a:t>🧠 ИИ-аналитик (LLM)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&gt; OpenRouter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&gt; Модель: google/gemma-4-26b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&gt; Работает на AWS EC2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&gt; Отвечает на 3 языках (KZ/RU/EN)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&gt; System prompt: эпидемиолог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4572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&gt; Упоминает SIR, R0, beta, gamma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17C00D-89BE-45A4-B596-90477C1C43FD}"/>
              </a:ext>
            </a:extLst>
          </p:cNvPr>
          <p:cNvSpPr/>
          <p:nvPr/>
        </p:nvSpPr>
        <p:spPr>
          <a:xfrm>
            <a:off x="3657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Персонаж (скоринг) vs МЛ-модель: Rule-based scoring — это НЕ ML. Random Forest сам нашёл закономерности из данных.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D90B2439-75AA-4FEE-BBAE-3EA08A03E1F2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9E25E9EF-0664-4C97-873A-83A3FC55B709}"/>
              </a:ext>
            </a:extLst>
          </p:cNvPr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CF10CAD9-9E67-4D33-882A-9F986A2F0CF8}"/>
              </a:ext>
            </a:extLst>
          </p:cNvPr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реализовано</a:t>
            </a:r>
            <a:endParaRPr lang="en-US" sz="32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C53A474A-87E4-4BC7-8183-910B390BFEDF}"/>
              </a:ext>
            </a:extLst>
          </p:cNvPr>
          <p:cNvSpPr/>
          <p:nvPr/>
        </p:nvSpPr>
        <p:spPr>
          <a:xfrm>
            <a:off x="365760" y="960120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41EC16E-9BEE-48CE-A66F-8B220F2EDEAF}"/>
              </a:ext>
            </a:extLst>
          </p:cNvPr>
          <p:cNvSpPr/>
          <p:nvPr/>
        </p:nvSpPr>
        <p:spPr>
          <a:xfrm>
            <a:off x="548640" y="10058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SIR-модель на реальных данных COVID-19 (15 стран, WHO/CDC)</a:t>
            </a:r>
            <a:endParaRPr lang="en-US" sz="13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3B0CE8EA-CD38-40FA-B49D-ECCEA9A21754}"/>
              </a:ext>
            </a:extLst>
          </p:cNvPr>
          <p:cNvSpPr/>
          <p:nvPr/>
        </p:nvSpPr>
        <p:spPr>
          <a:xfrm>
            <a:off x="365760" y="1664208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E664EEE-0A10-4995-AAFC-2AF75DF8364B}"/>
              </a:ext>
            </a:extLst>
          </p:cNvPr>
          <p:cNvSpPr/>
          <p:nvPr/>
        </p:nvSpPr>
        <p:spPr>
          <a:xfrm>
            <a:off x="548640" y="17099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Machine Learning: Random Forest, 85% точность, Feature Importance, XAI</a:t>
            </a:r>
            <a:endParaRPr lang="en-US" sz="13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027086F5-6B5B-47CD-A161-BF92B67519B6}"/>
              </a:ext>
            </a:extLst>
          </p:cNvPr>
          <p:cNvSpPr/>
          <p:nvPr/>
        </p:nvSpPr>
        <p:spPr>
          <a:xfrm>
            <a:off x="365760" y="2368296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F5ADA74-2F56-4D22-BA8A-B75746722F49}"/>
              </a:ext>
            </a:extLst>
          </p:cNvPr>
          <p:cNvSpPr/>
          <p:nvPr/>
        </p:nvSpPr>
        <p:spPr>
          <a:xfrm>
            <a:off x="548640" y="24140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ИИ интеграция: LLM через OpenRouter API на 3 языках</a:t>
            </a:r>
            <a:endParaRPr lang="en-US" sz="13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03E7E41C-3455-44DE-AF17-53F1024B177F}"/>
              </a:ext>
            </a:extLst>
          </p:cNvPr>
          <p:cNvSpPr/>
          <p:nvPr/>
        </p:nvSpPr>
        <p:spPr>
          <a:xfrm>
            <a:off x="365760" y="3072384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8DED288-50FA-4205-9DE3-A7ACF032DEFB}"/>
              </a:ext>
            </a:extLst>
          </p:cNvPr>
          <p:cNvSpPr/>
          <p:nvPr/>
        </p:nvSpPr>
        <p:spPr>
          <a:xfrm>
            <a:off x="548640" y="3118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Adversarial Attack симулятор — анализ с позиции атакующего</a:t>
            </a:r>
            <a:endParaRPr lang="en-US" sz="1300" dirty="0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8BB43F01-A750-49FF-858F-9F7641B004FD}"/>
              </a:ext>
            </a:extLst>
          </p:cNvPr>
          <p:cNvSpPr/>
          <p:nvPr/>
        </p:nvSpPr>
        <p:spPr>
          <a:xfrm>
            <a:off x="365760" y="3776472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4BF16345-AF3F-4C4E-95FC-8D2ADA789373}"/>
              </a:ext>
            </a:extLst>
          </p:cNvPr>
          <p:cNvSpPr/>
          <p:nvPr/>
        </p:nvSpPr>
        <p:spPr>
          <a:xfrm>
            <a:off x="548640" y="3822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Персонаж: Radar Chart, PDF сертификат, 74 клички с редкостью</a:t>
            </a:r>
            <a:endParaRPr lang="en-US" sz="130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EDA8735E-75E0-4179-A04E-9A4AC3FF33F9}"/>
              </a:ext>
            </a:extLst>
          </p:cNvPr>
          <p:cNvSpPr/>
          <p:nvPr/>
        </p:nvSpPr>
        <p:spPr>
          <a:xfrm>
            <a:off x="365760" y="4480560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3717C6B3-E28F-4868-A729-3D9DE45757BA}"/>
              </a:ext>
            </a:extLst>
          </p:cNvPr>
          <p:cNvSpPr/>
          <p:nvPr/>
        </p:nvSpPr>
        <p:spPr>
          <a:xfrm>
            <a:off x="548640" y="4526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Деплой: AWS EC2, постоянный сайт 24/7</a:t>
            </a:r>
            <a:endParaRPr lang="en-US" sz="13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E1F52E0D-0552-42CF-84A9-265559B522FD}"/>
              </a:ext>
            </a:extLst>
          </p:cNvPr>
          <p:cNvSpPr/>
          <p:nvPr/>
        </p:nvSpPr>
        <p:spPr>
          <a:xfrm>
            <a:off x="365760" y="5184648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7D39CB9E-2282-47FE-A495-E9D41F8CE2C9}"/>
              </a:ext>
            </a:extLst>
          </p:cNvPr>
          <p:cNvSpPr/>
          <p:nvPr/>
        </p:nvSpPr>
        <p:spPr>
          <a:xfrm>
            <a:off x="548640" y="52303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3 языка: Казахский / Русский / English</a:t>
            </a:r>
            <a:endParaRPr lang="en-US" sz="13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1D7D2754-B374-4E78-B327-F216B9A21728}"/>
              </a:ext>
            </a:extLst>
          </p:cNvPr>
          <p:cNvSpPr/>
          <p:nvPr/>
        </p:nvSpPr>
        <p:spPr>
          <a:xfrm>
            <a:off x="0" y="649224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🧟  Zombie Apocalypse Simulator  |  Максат Омаров  |  http://34.226.215.175:8501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573</Words>
  <Application>Microsoft Office PowerPoint</Application>
  <PresentationFormat>Широкоэкранный</PresentationFormat>
  <Paragraphs>103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Oswald</vt:lpstr>
      <vt:lpstr>Source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Maksat</cp:lastModifiedBy>
  <cp:revision>5</cp:revision>
  <dcterms:created xsi:type="dcterms:W3CDTF">2026-05-01T19:01:43Z</dcterms:created>
  <dcterms:modified xsi:type="dcterms:W3CDTF">2026-05-03T18:13:31Z</dcterms:modified>
</cp:coreProperties>
</file>